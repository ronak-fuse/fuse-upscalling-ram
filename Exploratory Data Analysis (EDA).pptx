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c8c6f4dbf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c8c6f4db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c7ec239c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c7ec239c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c7ec239c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c7ec239c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c7ec239c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c7ec239c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87abb1a6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87abb1a6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c7ec239c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c7ec239c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c8c6f4dbf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c8c6f4dbf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c8c6f4dbf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c8c6f4dbf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c7ec239c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c7ec239c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c7ec239c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c7ec239c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c8c6f4dbf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c8c6f4dbf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c8c6f4dbf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c8c6f4dbf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c8c6f4dbf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c8c6f4dbf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c7ec239c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c7ec239c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c8c6f4dbf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c8c6f4dbf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c8c6f4dbf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c8c6f4dbf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a critical first step in any data science project to inspect, clean, and prepare data before building a model.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f.info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311708" y="1264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 (EDA) &amp; Preprocessing on Titanic Dataset</a:t>
            </a:r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6015150" y="4427675"/>
            <a:ext cx="33078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D85C6"/>
                </a:solidFill>
              </a:rPr>
              <a:t>Ramdular Yadav</a:t>
            </a:r>
            <a:endParaRPr sz="1800">
              <a:solidFill>
                <a:srgbClr val="3D85C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D85C6"/>
                </a:solidFill>
              </a:rPr>
              <a:t>Machine Learning Engineer</a:t>
            </a:r>
            <a:endParaRPr sz="1800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Introduction to EDA </a:t>
            </a:r>
            <a:endParaRPr b="1" sz="2720"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22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process of using statistical summaries and data visualization to understand the main characteristics of a dataset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9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66" name="Google Shape;66;p15" title="ChatGPT Image Sep 8, 2025, 10_00_2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175" y="2053175"/>
            <a:ext cx="7330399" cy="293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Main purposes of EDA</a:t>
            </a:r>
            <a:endParaRPr b="1" sz="2720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Generate hypotheses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Find anomalies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Understand variable relationships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Ensure data quality</a:t>
            </a:r>
            <a:endParaRPr sz="2300"/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Select appropriate models</a:t>
            </a:r>
            <a:endParaRPr sz="2300"/>
          </a:p>
        </p:txBody>
      </p:sp>
      <p:pic>
        <p:nvPicPr>
          <p:cNvPr id="73" name="Google Shape;73;p16" title="Gemini_Generated_Image_lo62o4lo62o4lo62.png"/>
          <p:cNvPicPr preferRelativeResize="0"/>
          <p:nvPr/>
        </p:nvPicPr>
        <p:blipFill rotWithShape="1">
          <a:blip r:embed="rId3">
            <a:alphaModFix/>
          </a:blip>
          <a:srcRect b="12228" l="7676" r="6072" t="12191"/>
          <a:stretch/>
        </p:blipFill>
        <p:spPr>
          <a:xfrm>
            <a:off x="5351275" y="825500"/>
            <a:ext cx="3556024" cy="311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EDA process</a:t>
            </a:r>
            <a:endParaRPr b="1" sz="2720"/>
          </a:p>
        </p:txBody>
      </p:sp>
      <p:sp>
        <p:nvSpPr>
          <p:cNvPr id="79" name="Google Shape;79;p17"/>
          <p:cNvSpPr txBox="1"/>
          <p:nvPr/>
        </p:nvSpPr>
        <p:spPr>
          <a:xfrm>
            <a:off x="311700" y="1241125"/>
            <a:ext cx="8324400" cy="3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1. Understand the data and the problem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80" name="Google Shape;80;p17" title="Gemini_Generated_Image_jcwmc0jcwmc0jcwm.png"/>
          <p:cNvPicPr preferRelativeResize="0"/>
          <p:nvPr/>
        </p:nvPicPr>
        <p:blipFill rotWithShape="1">
          <a:blip r:embed="rId3">
            <a:alphaModFix/>
          </a:blip>
          <a:srcRect b="0" l="0" r="0" t="12157"/>
          <a:stretch/>
        </p:blipFill>
        <p:spPr>
          <a:xfrm>
            <a:off x="2389925" y="1847275"/>
            <a:ext cx="3752581" cy="329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EDA process</a:t>
            </a:r>
            <a:endParaRPr b="1" sz="2720"/>
          </a:p>
        </p:txBody>
      </p:sp>
      <p:sp>
        <p:nvSpPr>
          <p:cNvPr id="86" name="Google Shape;86;p18"/>
          <p:cNvSpPr txBox="1"/>
          <p:nvPr/>
        </p:nvSpPr>
        <p:spPr>
          <a:xfrm>
            <a:off x="311700" y="1241125"/>
            <a:ext cx="8324400" cy="3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2. Inspect and prepare the data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Size and shape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Initial view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Data types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Missing values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87" name="Google Shape;87;p18" title="Gemini_Generated_Image_fk1ejyfk1ejyfk1e.png"/>
          <p:cNvPicPr preferRelativeResize="0"/>
          <p:nvPr/>
        </p:nvPicPr>
        <p:blipFill rotWithShape="1">
          <a:blip r:embed="rId3">
            <a:alphaModFix/>
          </a:blip>
          <a:srcRect b="0" l="0" r="0" t="15376"/>
          <a:stretch/>
        </p:blipFill>
        <p:spPr>
          <a:xfrm>
            <a:off x="4494100" y="1681900"/>
            <a:ext cx="4338202" cy="346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Dataset Overview</a:t>
            </a:r>
            <a:endParaRPr b="1" sz="2720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22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91"/>
              <a:t>Objective:</a:t>
            </a:r>
            <a:r>
              <a:rPr lang="en" sz="1891"/>
              <a:t> Explore Titanic dataset, clean data, preprocess features for modeling.</a:t>
            </a:r>
            <a:endParaRPr sz="189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91"/>
              <a:t>Dataset details:</a:t>
            </a:r>
            <a:r>
              <a:rPr lang="en" sz="1891"/>
              <a:t> 891 rows × 12 columns</a:t>
            </a:r>
            <a:endParaRPr sz="189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91"/>
              <a:t>Target variable:</a:t>
            </a:r>
            <a:r>
              <a:rPr lang="en" sz="1891"/>
              <a:t> Survived (0 = No, 1 = Yes).</a:t>
            </a:r>
            <a:endParaRPr sz="189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94" name="Google Shape;94;p19" title="Screenshot 2025-09-08 1646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54050"/>
            <a:ext cx="8839201" cy="935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Dataset Overview</a:t>
            </a:r>
            <a:endParaRPr b="1" sz="2720"/>
          </a:p>
        </p:txBody>
      </p:sp>
      <p:sp>
        <p:nvSpPr>
          <p:cNvPr id="100" name="Google Shape;100;p20"/>
          <p:cNvSpPr txBox="1"/>
          <p:nvPr/>
        </p:nvSpPr>
        <p:spPr>
          <a:xfrm>
            <a:off x="313275" y="1293000"/>
            <a:ext cx="8646600" cy="3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Show dataset structure </a:t>
            </a:r>
            <a:r>
              <a:rPr b="1" i="1" lang="en" sz="1800">
                <a:solidFill>
                  <a:schemeClr val="dk2"/>
                </a:solidFill>
              </a:rPr>
              <a:t>(</a:t>
            </a:r>
            <a:r>
              <a:rPr b="1" i="1" lang="en" sz="1800" u="sng">
                <a:solidFill>
                  <a:schemeClr val="hlink"/>
                </a:solidFill>
                <a:hlinkClick r:id="rId3"/>
              </a:rPr>
              <a:t>df.info</a:t>
            </a:r>
            <a:r>
              <a:rPr b="1" i="1" lang="en" sz="1800">
                <a:solidFill>
                  <a:schemeClr val="dk2"/>
                </a:solidFill>
              </a:rPr>
              <a:t>())</a:t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Numerical (</a:t>
            </a:r>
            <a:r>
              <a:rPr b="1" lang="en" sz="1800">
                <a:solidFill>
                  <a:schemeClr val="dk2"/>
                </a:solidFill>
              </a:rPr>
              <a:t>Age</a:t>
            </a:r>
            <a:r>
              <a:rPr lang="en" sz="1800">
                <a:solidFill>
                  <a:schemeClr val="dk2"/>
                </a:solidFill>
              </a:rPr>
              <a:t>, </a:t>
            </a:r>
            <a:r>
              <a:rPr b="1" lang="en" sz="1800">
                <a:solidFill>
                  <a:schemeClr val="dk2"/>
                </a:solidFill>
              </a:rPr>
              <a:t>Fare</a:t>
            </a:r>
            <a:r>
              <a:rPr lang="en" sz="1800">
                <a:solidFill>
                  <a:schemeClr val="dk2"/>
                </a:solidFill>
              </a:rPr>
              <a:t>, </a:t>
            </a:r>
            <a:r>
              <a:rPr b="1" lang="en" sz="1800">
                <a:solidFill>
                  <a:schemeClr val="dk2"/>
                </a:solidFill>
              </a:rPr>
              <a:t>SibSp</a:t>
            </a:r>
            <a:r>
              <a:rPr lang="en" sz="1800">
                <a:solidFill>
                  <a:schemeClr val="dk2"/>
                </a:solidFill>
              </a:rPr>
              <a:t>, </a:t>
            </a:r>
            <a:r>
              <a:rPr b="1" lang="en" sz="1800">
                <a:solidFill>
                  <a:schemeClr val="dk2"/>
                </a:solidFill>
              </a:rPr>
              <a:t>Parch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Categorical (</a:t>
            </a:r>
            <a:r>
              <a:rPr b="1" lang="en" sz="1800">
                <a:solidFill>
                  <a:schemeClr val="dk2"/>
                </a:solidFill>
              </a:rPr>
              <a:t>Sex</a:t>
            </a:r>
            <a:r>
              <a:rPr lang="en" sz="1800">
                <a:solidFill>
                  <a:schemeClr val="dk2"/>
                </a:solidFill>
              </a:rPr>
              <a:t>,</a:t>
            </a:r>
            <a:r>
              <a:rPr b="1" lang="en" sz="1800">
                <a:solidFill>
                  <a:schemeClr val="dk2"/>
                </a:solidFill>
              </a:rPr>
              <a:t> Embarked</a:t>
            </a:r>
            <a:r>
              <a:rPr lang="en" sz="1800">
                <a:solidFill>
                  <a:schemeClr val="dk2"/>
                </a:solidFill>
              </a:rPr>
              <a:t>, </a:t>
            </a:r>
            <a:r>
              <a:rPr b="1" lang="en" sz="1800">
                <a:solidFill>
                  <a:schemeClr val="dk2"/>
                </a:solidFill>
              </a:rPr>
              <a:t>Pclass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High-cardinality (</a:t>
            </a:r>
            <a:r>
              <a:rPr b="1" lang="en" sz="1800">
                <a:solidFill>
                  <a:schemeClr val="dk2"/>
                </a:solidFill>
              </a:rPr>
              <a:t>Name</a:t>
            </a:r>
            <a:r>
              <a:rPr lang="en" sz="1800">
                <a:solidFill>
                  <a:schemeClr val="dk2"/>
                </a:solidFill>
              </a:rPr>
              <a:t>, </a:t>
            </a:r>
            <a:r>
              <a:rPr b="1" lang="en" sz="1800">
                <a:solidFill>
                  <a:schemeClr val="dk2"/>
                </a:solidFill>
              </a:rPr>
              <a:t>Ticket</a:t>
            </a:r>
            <a:r>
              <a:rPr lang="en" sz="1800">
                <a:solidFill>
                  <a:schemeClr val="dk2"/>
                </a:solidFill>
              </a:rPr>
              <a:t>, </a:t>
            </a:r>
            <a:r>
              <a:rPr b="1" lang="en" sz="1800">
                <a:solidFill>
                  <a:schemeClr val="dk2"/>
                </a:solidFill>
              </a:rPr>
              <a:t>Cabin</a:t>
            </a:r>
            <a:r>
              <a:rPr lang="en" sz="1800">
                <a:solidFill>
                  <a:schemeClr val="dk2"/>
                </a:solidFill>
              </a:rPr>
              <a:t>).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1" name="Google Shape;101;p20" title="Screenshot 2025-09-08 1657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5850" y="1017725"/>
            <a:ext cx="3490611" cy="40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 title="Screenshot 2025-09-08 16572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9420" y="3025500"/>
            <a:ext cx="1542081" cy="21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Missing Values</a:t>
            </a:r>
            <a:endParaRPr b="1" sz="2720"/>
          </a:p>
        </p:txBody>
      </p:sp>
      <p:sp>
        <p:nvSpPr>
          <p:cNvPr id="108" name="Google Shape;108;p21"/>
          <p:cNvSpPr txBox="1"/>
          <p:nvPr/>
        </p:nvSpPr>
        <p:spPr>
          <a:xfrm>
            <a:off x="313275" y="1293000"/>
            <a:ext cx="8646600" cy="3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Found missing values in: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Missing_counts = </a:t>
            </a:r>
            <a:r>
              <a:rPr b="1" i="1" lang="en" sz="1600">
                <a:solidFill>
                  <a:schemeClr val="dk2"/>
                </a:solidFill>
              </a:rPr>
              <a:t>df.isnull().sum()</a:t>
            </a:r>
            <a:endParaRPr b="1" i="1" sz="1600">
              <a:solidFill>
                <a:schemeClr val="dk2"/>
              </a:solidFill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Age → 19.87%</a:t>
            </a:r>
            <a:endParaRPr sz="1600">
              <a:solidFill>
                <a:schemeClr val="dk2"/>
              </a:solidFill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Cabin → 77.10%</a:t>
            </a:r>
            <a:endParaRPr sz="1600">
              <a:solidFill>
                <a:schemeClr val="dk2"/>
              </a:solidFill>
            </a:endParaRPr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Embarked → 0.22%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9" name="Google Shape;109;p21" title="Screenshot 2025-09-08 170507.png"/>
          <p:cNvPicPr preferRelativeResize="0"/>
          <p:nvPr/>
        </p:nvPicPr>
        <p:blipFill rotWithShape="1">
          <a:blip r:embed="rId3">
            <a:alphaModFix/>
          </a:blip>
          <a:srcRect b="1048" l="0" r="0" t="42555"/>
          <a:stretch/>
        </p:blipFill>
        <p:spPr>
          <a:xfrm>
            <a:off x="313275" y="3110925"/>
            <a:ext cx="3028125" cy="203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4072650" y="1258825"/>
            <a:ext cx="4759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Missing Values HeatMap: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2"/>
              </a:solidFill>
            </a:endParaRPr>
          </a:p>
        </p:txBody>
      </p:sp>
      <p:pic>
        <p:nvPicPr>
          <p:cNvPr id="111" name="Google Shape;111;p21" title="Screenshot 2025-09-08 1712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1601" y="1292988"/>
            <a:ext cx="5121596" cy="338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Handle Missing Values</a:t>
            </a:r>
            <a:endParaRPr b="1" sz="2720"/>
          </a:p>
        </p:txBody>
      </p:sp>
      <p:sp>
        <p:nvSpPr>
          <p:cNvPr id="117" name="Google Shape;117;p22"/>
          <p:cNvSpPr txBox="1"/>
          <p:nvPr/>
        </p:nvSpPr>
        <p:spPr>
          <a:xfrm>
            <a:off x="142400" y="1293000"/>
            <a:ext cx="5622000" cy="3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Embarked:</a:t>
            </a:r>
            <a:r>
              <a:rPr lang="en" sz="1600">
                <a:solidFill>
                  <a:schemeClr val="dk2"/>
                </a:solidFill>
              </a:rPr>
              <a:t> Fill with </a:t>
            </a:r>
            <a:r>
              <a:rPr b="1" lang="en" sz="1600">
                <a:solidFill>
                  <a:schemeClr val="dk2"/>
                </a:solidFill>
              </a:rPr>
              <a:t>mode</a:t>
            </a:r>
            <a:r>
              <a:rPr lang="en" sz="1600">
                <a:solidFill>
                  <a:schemeClr val="dk2"/>
                </a:solidFill>
              </a:rPr>
              <a:t> (most frequent value, likely 'S') due to only 0.22% missing.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Age:</a:t>
            </a:r>
            <a:r>
              <a:rPr lang="en" sz="1600">
                <a:solidFill>
                  <a:schemeClr val="dk2"/>
                </a:solidFill>
              </a:rPr>
              <a:t> Fill with </a:t>
            </a:r>
            <a:r>
              <a:rPr b="1" lang="en" sz="1600">
                <a:solidFill>
                  <a:schemeClr val="dk2"/>
                </a:solidFill>
              </a:rPr>
              <a:t>median</a:t>
            </a:r>
            <a:r>
              <a:rPr lang="en" sz="1600">
                <a:solidFill>
                  <a:schemeClr val="dk2"/>
                </a:solidFill>
              </a:rPr>
              <a:t> to handle 19.87% missing, as it’s robust to outliers.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Cabin:</a:t>
            </a:r>
            <a:r>
              <a:rPr lang="en" sz="1600">
                <a:solidFill>
                  <a:schemeClr val="dk2"/>
                </a:solidFill>
              </a:rPr>
              <a:t> </a:t>
            </a:r>
            <a:r>
              <a:rPr b="1" lang="en" sz="1600">
                <a:solidFill>
                  <a:schemeClr val="dk2"/>
                </a:solidFill>
              </a:rPr>
              <a:t>Drop</a:t>
            </a:r>
            <a:r>
              <a:rPr lang="en" sz="1600">
                <a:solidFill>
                  <a:schemeClr val="dk2"/>
                </a:solidFill>
              </a:rPr>
              <a:t> due to 77.10% missing, as imputation would introduce significant bias. Cabin is often correlated with Pclass or Fare, which capture similar information (socioeconomic status/deck location)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8" name="Google Shape;118;p22" title="Screenshot 2025-09-08 1717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400" y="1511875"/>
            <a:ext cx="3002665" cy="31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EDA process</a:t>
            </a:r>
            <a:endParaRPr b="1" sz="2720"/>
          </a:p>
        </p:txBody>
      </p:sp>
      <p:sp>
        <p:nvSpPr>
          <p:cNvPr id="124" name="Google Shape;124;p23"/>
          <p:cNvSpPr txBox="1"/>
          <p:nvPr/>
        </p:nvSpPr>
        <p:spPr>
          <a:xfrm>
            <a:off x="311700" y="1241125"/>
            <a:ext cx="8324400" cy="39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3. Visualize the data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Data visualization is a core component of EDA, using graphical representations to easily spot patterns, trends, and outliers that might be difficult to see in raw numbers.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Univariate analysis (single variable):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en" sz="2000">
                <a:solidFill>
                  <a:schemeClr val="dk2"/>
                </a:solidFill>
              </a:rPr>
              <a:t>Histogram</a:t>
            </a:r>
            <a:r>
              <a:rPr lang="en" sz="2000">
                <a:solidFill>
                  <a:schemeClr val="dk2"/>
                </a:solidFill>
              </a:rPr>
              <a:t> -  frequency distribution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en" sz="2000">
                <a:solidFill>
                  <a:schemeClr val="dk2"/>
                </a:solidFill>
              </a:rPr>
              <a:t>Bar chart:</a:t>
            </a:r>
            <a:r>
              <a:rPr lang="en" sz="2000">
                <a:solidFill>
                  <a:schemeClr val="dk2"/>
                </a:solidFill>
              </a:rPr>
              <a:t> Shows the distribution of a categorical variable.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en" sz="2000">
                <a:solidFill>
                  <a:schemeClr val="dk2"/>
                </a:solidFill>
              </a:rPr>
              <a:t>Box plot:</a:t>
            </a:r>
            <a:r>
              <a:rPr lang="en" sz="2000">
                <a:solidFill>
                  <a:schemeClr val="dk2"/>
                </a:solidFill>
              </a:rPr>
              <a:t> Summarizes the five-number summary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EDA process</a:t>
            </a:r>
            <a:endParaRPr b="1" sz="2720"/>
          </a:p>
        </p:txBody>
      </p:sp>
      <p:sp>
        <p:nvSpPr>
          <p:cNvPr id="130" name="Google Shape;130;p24"/>
          <p:cNvSpPr txBox="1"/>
          <p:nvPr/>
        </p:nvSpPr>
        <p:spPr>
          <a:xfrm>
            <a:off x="311700" y="1241125"/>
            <a:ext cx="8324400" cy="3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4. Visualize the data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	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Bivariate and multivariate analysis (two or more variables):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b="1" lang="en" sz="2200">
                <a:solidFill>
                  <a:schemeClr val="dk2"/>
                </a:solidFill>
              </a:rPr>
              <a:t>Scatter plot</a:t>
            </a:r>
            <a:r>
              <a:rPr lang="en" sz="2200">
                <a:solidFill>
                  <a:schemeClr val="dk2"/>
                </a:solidFill>
              </a:rPr>
              <a:t>: Visualizes the relationship between two continuous variables.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b="1" lang="en" sz="2200">
                <a:solidFill>
                  <a:schemeClr val="dk2"/>
                </a:solidFill>
              </a:rPr>
              <a:t>Heatmap</a:t>
            </a:r>
            <a:r>
              <a:rPr lang="en" sz="2200">
                <a:solidFill>
                  <a:schemeClr val="dk2"/>
                </a:solidFill>
              </a:rPr>
              <a:t>: Displays the correlation matrix</a:t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Exploratory Visualizations</a:t>
            </a:r>
            <a:endParaRPr b="1" sz="2720"/>
          </a:p>
        </p:txBody>
      </p:sp>
      <p:sp>
        <p:nvSpPr>
          <p:cNvPr id="136" name="Google Shape;136;p25"/>
          <p:cNvSpPr txBox="1"/>
          <p:nvPr/>
        </p:nvSpPr>
        <p:spPr>
          <a:xfrm>
            <a:off x="311700" y="1241125"/>
            <a:ext cx="8324400" cy="3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37" name="Google Shape;137;p25" title="Screenshot 2025-09-08 1732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25" y="2016825"/>
            <a:ext cx="3200413" cy="196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 title="Screenshot 2025-09-08 1733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0925" y="1962476"/>
            <a:ext cx="3014800" cy="196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Screenshot 2025-09-08 1734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5725" y="2028887"/>
            <a:ext cx="2837375" cy="18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Encoding Categorical Features</a:t>
            </a:r>
            <a:endParaRPr b="1" sz="2720"/>
          </a:p>
        </p:txBody>
      </p:sp>
      <p:sp>
        <p:nvSpPr>
          <p:cNvPr id="145" name="Google Shape;145;p26"/>
          <p:cNvSpPr txBox="1"/>
          <p:nvPr/>
        </p:nvSpPr>
        <p:spPr>
          <a:xfrm>
            <a:off x="311700" y="1241125"/>
            <a:ext cx="8324400" cy="3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311700" y="1139200"/>
            <a:ext cx="8800200" cy="1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Sex: 2 categories (male, female) → Use</a:t>
            </a:r>
            <a:r>
              <a:rPr b="1" lang="en" sz="1800">
                <a:solidFill>
                  <a:schemeClr val="dk2"/>
                </a:solidFill>
              </a:rPr>
              <a:t> LabelEncoder</a:t>
            </a:r>
            <a:r>
              <a:rPr lang="en" sz="1800">
                <a:solidFill>
                  <a:schemeClr val="dk2"/>
                </a:solidFill>
              </a:rPr>
              <a:t> (binary).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Embarked: 3 categories (S, C, Q) → Use </a:t>
            </a:r>
            <a:r>
              <a:rPr b="1" lang="en" sz="1800">
                <a:solidFill>
                  <a:schemeClr val="dk2"/>
                </a:solidFill>
              </a:rPr>
              <a:t>OneHotEncoder </a:t>
            </a:r>
            <a:r>
              <a:rPr lang="en" sz="1800">
                <a:solidFill>
                  <a:schemeClr val="dk2"/>
                </a:solidFill>
              </a:rPr>
              <a:t>(non-ordinal).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Pclass: 3 categories (1, 2, 3) → Treat as </a:t>
            </a:r>
            <a:r>
              <a:rPr b="1" lang="en" sz="1800">
                <a:solidFill>
                  <a:schemeClr val="dk2"/>
                </a:solidFill>
              </a:rPr>
              <a:t>ordinal </a:t>
            </a:r>
            <a:r>
              <a:rPr lang="en" sz="1800">
                <a:solidFill>
                  <a:schemeClr val="dk2"/>
                </a:solidFill>
              </a:rPr>
              <a:t>(numerical)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Name,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Ticket: High cardinality (many unique values), drop unless engineered.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PassengerId: Unique identifier, drop.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7" name="Google Shape;147;p26" title="Screenshot 2025-09-08 1740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76550"/>
            <a:ext cx="4260299" cy="21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 title="Screenshot 2025-09-08 1742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548" y="2691624"/>
            <a:ext cx="4260300" cy="23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Scaling Numerical Features</a:t>
            </a:r>
            <a:endParaRPr b="1" sz="2720"/>
          </a:p>
        </p:txBody>
      </p:sp>
      <p:sp>
        <p:nvSpPr>
          <p:cNvPr id="154" name="Google Shape;154;p27"/>
          <p:cNvSpPr txBox="1"/>
          <p:nvPr/>
        </p:nvSpPr>
        <p:spPr>
          <a:xfrm>
            <a:off x="311700" y="1241125"/>
            <a:ext cx="8324400" cy="3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311700" y="1139200"/>
            <a:ext cx="8800200" cy="1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StandardScaler applied to: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Age, Fare, SibSp, Parch.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All features rescaled to mean = 0, std = 1.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</a:rPr>
              <a:t>Reason</a:t>
            </a:r>
            <a:r>
              <a:rPr lang="en" sz="1800">
                <a:solidFill>
                  <a:schemeClr val="dk2"/>
                </a:solidFill>
              </a:rPr>
              <a:t>: Prepare for ML models sensitive to scale.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6" name="Google Shape;156;p27" title="Screenshot 2025-09-08 174527.png"/>
          <p:cNvPicPr preferRelativeResize="0"/>
          <p:nvPr/>
        </p:nvPicPr>
        <p:blipFill rotWithShape="1">
          <a:blip r:embed="rId3">
            <a:alphaModFix/>
          </a:blip>
          <a:srcRect b="0" l="1109" r="12913" t="0"/>
          <a:stretch/>
        </p:blipFill>
        <p:spPr>
          <a:xfrm>
            <a:off x="222150" y="2839225"/>
            <a:ext cx="4505400" cy="20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 title="Screenshot 2025-09-08 174647.png"/>
          <p:cNvPicPr preferRelativeResize="0"/>
          <p:nvPr/>
        </p:nvPicPr>
        <p:blipFill rotWithShape="1">
          <a:blip r:embed="rId4">
            <a:alphaModFix/>
          </a:blip>
          <a:srcRect b="0" l="2997" r="6176" t="0"/>
          <a:stretch/>
        </p:blipFill>
        <p:spPr>
          <a:xfrm>
            <a:off x="4833325" y="3121425"/>
            <a:ext cx="4210825" cy="14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EDA process</a:t>
            </a:r>
            <a:endParaRPr b="1" sz="2720"/>
          </a:p>
        </p:txBody>
      </p:sp>
      <p:sp>
        <p:nvSpPr>
          <p:cNvPr id="163" name="Google Shape;163;p28"/>
          <p:cNvSpPr txBox="1"/>
          <p:nvPr/>
        </p:nvSpPr>
        <p:spPr>
          <a:xfrm>
            <a:off x="311700" y="1241125"/>
            <a:ext cx="8630100" cy="3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3. Perform statistical analysis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This stage uses descriptive statistics to get a numerical summary of the data, especially for continuous variables. 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print(</a:t>
            </a:r>
            <a:r>
              <a:rPr b="1" i="1" lang="en" sz="2200">
                <a:solidFill>
                  <a:srgbClr val="3C78D8"/>
                </a:solidFill>
              </a:rPr>
              <a:t>df.describe()</a:t>
            </a:r>
            <a:r>
              <a:rPr lang="en" sz="2200">
                <a:solidFill>
                  <a:schemeClr val="dk2"/>
                </a:solidFill>
              </a:rPr>
              <a:t>)</a:t>
            </a:r>
            <a:endParaRPr sz="2200">
              <a:solidFill>
                <a:schemeClr val="dk2"/>
              </a:solidFill>
            </a:endParaRPr>
          </a:p>
        </p:txBody>
      </p:sp>
      <p:pic>
        <p:nvPicPr>
          <p:cNvPr id="164" name="Google Shape;164;p28" title="Screenshot 2025-09-08 1750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465575"/>
            <a:ext cx="436245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Correlation Analysis</a:t>
            </a:r>
            <a:endParaRPr b="1" sz="2720"/>
          </a:p>
        </p:txBody>
      </p:sp>
      <p:sp>
        <p:nvSpPr>
          <p:cNvPr id="170" name="Google Shape;170;p29"/>
          <p:cNvSpPr txBox="1"/>
          <p:nvPr/>
        </p:nvSpPr>
        <p:spPr>
          <a:xfrm>
            <a:off x="311700" y="1241125"/>
            <a:ext cx="4163400" cy="3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Correlation heatmap (numeric + encoded features).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Insights:</a:t>
            </a:r>
            <a:endParaRPr sz="1600">
              <a:solidFill>
                <a:schemeClr val="dk2"/>
              </a:solidFill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Strong correlation between Pclass &amp; Fare.</a:t>
            </a:r>
            <a:endParaRPr sz="1600">
              <a:solidFill>
                <a:schemeClr val="dk2"/>
              </a:solidFill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Sex correlates with survival.</a:t>
            </a:r>
            <a:endParaRPr sz="1600">
              <a:solidFill>
                <a:schemeClr val="dk2"/>
              </a:solidFill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SibSp &amp; Parch moderately correlated (family traveling together).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171" name="Google Shape;171;p29" title="Screenshot 2025-09-08 175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475" y="1017725"/>
            <a:ext cx="4550825" cy="378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/>
              <a:t>Final Cleaned Dataset</a:t>
            </a:r>
            <a:endParaRPr b="1" sz="2720"/>
          </a:p>
        </p:txBody>
      </p:sp>
      <p:sp>
        <p:nvSpPr>
          <p:cNvPr id="177" name="Google Shape;177;p30"/>
          <p:cNvSpPr txBox="1"/>
          <p:nvPr/>
        </p:nvSpPr>
        <p:spPr>
          <a:xfrm>
            <a:off x="311700" y="1241125"/>
            <a:ext cx="8255100" cy="3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After preprocessing:</a:t>
            </a:r>
            <a:endParaRPr sz="1600">
              <a:solidFill>
                <a:schemeClr val="dk2"/>
              </a:solidFill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Rows: 891</a:t>
            </a:r>
            <a:endParaRPr sz="1600">
              <a:solidFill>
                <a:schemeClr val="dk2"/>
              </a:solidFill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Columns: Reduced (dropped unnecessary + encoded features)</a:t>
            </a:r>
            <a:r>
              <a:rPr lang="en" sz="1600">
                <a:solidFill>
                  <a:schemeClr val="dk2"/>
                </a:solidFill>
              </a:rPr>
              <a:t>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Data is now: No missing values, scaled numerics, encoded categoricals.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Ready for ML modeling.</a:t>
            </a:r>
            <a:endParaRPr sz="16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